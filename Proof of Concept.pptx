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DM Sans Bold" panose="020B0604020202020204" charset="0"/>
      <p:regular r:id="rId20"/>
    </p:embeddedFont>
    <p:embeddedFont>
      <p:font typeface="DM Sans Medium" pitchFamily="2" charset="0"/>
      <p:regular r:id="rId21"/>
    </p:embeddedFont>
    <p:embeddedFont>
      <p:font typeface="Inter" panose="020B0604020202020204" charset="0"/>
      <p:regular r:id="rId22"/>
    </p:embeddedFont>
    <p:embeddedFont>
      <p:font typeface="Inter 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T V" userId="900c21d2a87c29e0" providerId="LiveId" clId="{D1FF976A-8D16-4AD0-8764-009580841FC3}"/>
    <pc:docChg chg="modSld">
      <pc:chgData name="sai T V" userId="900c21d2a87c29e0" providerId="LiveId" clId="{D1FF976A-8D16-4AD0-8764-009580841FC3}" dt="2026-09-20T09:14:38.717" v="18" actId="1076"/>
      <pc:docMkLst>
        <pc:docMk/>
      </pc:docMkLst>
      <pc:sldChg chg="addSp modSp mod">
        <pc:chgData name="sai T V" userId="900c21d2a87c29e0" providerId="LiveId" clId="{D1FF976A-8D16-4AD0-8764-009580841FC3}" dt="2026-09-20T09:14:38.717" v="18" actId="1076"/>
        <pc:sldMkLst>
          <pc:docMk/>
          <pc:sldMk cId="0" sldId="256"/>
        </pc:sldMkLst>
        <pc:spChg chg="add mod">
          <ac:chgData name="sai T V" userId="900c21d2a87c29e0" providerId="LiveId" clId="{D1FF976A-8D16-4AD0-8764-009580841FC3}" dt="2026-09-20T09:14:20.663" v="15" actId="14100"/>
          <ac:spMkLst>
            <pc:docMk/>
            <pc:sldMk cId="0" sldId="256"/>
            <ac:spMk id="5" creationId="{B7B981E7-BB10-EB39-E756-476B75314550}"/>
          </ac:spMkLst>
        </pc:spChg>
        <pc:spChg chg="add mod">
          <ac:chgData name="sai T V" userId="900c21d2a87c29e0" providerId="LiveId" clId="{D1FF976A-8D16-4AD0-8764-009580841FC3}" dt="2026-09-20T09:14:38.717" v="18" actId="1076"/>
          <ac:spMkLst>
            <pc:docMk/>
            <pc:sldMk cId="0" sldId="256"/>
            <ac:spMk id="7" creationId="{F63F0C82-EADE-FAC0-E7AE-AEB0DA6D73A1}"/>
          </ac:spMkLst>
        </pc:spChg>
      </pc:sldChg>
      <pc:sldChg chg="addSp mod">
        <pc:chgData name="sai T V" userId="900c21d2a87c29e0" providerId="LiveId" clId="{D1FF976A-8D16-4AD0-8764-009580841FC3}" dt="2026-09-20T09:13:52.120" v="10" actId="22"/>
        <pc:sldMkLst>
          <pc:docMk/>
          <pc:sldMk cId="0" sldId="257"/>
        </pc:sldMkLst>
        <pc:spChg chg="add">
          <ac:chgData name="sai T V" userId="900c21d2a87c29e0" providerId="LiveId" clId="{D1FF976A-8D16-4AD0-8764-009580841FC3}" dt="2026-09-20T09:13:52.120" v="10" actId="22"/>
          <ac:spMkLst>
            <pc:docMk/>
            <pc:sldMk cId="0" sldId="257"/>
            <ac:spMk id="23" creationId="{9FCF9A06-CAE8-9F82-56FE-FA815603B099}"/>
          </ac:spMkLst>
        </pc:spChg>
      </pc:sldChg>
      <pc:sldChg chg="addSp mod">
        <pc:chgData name="sai T V" userId="900c21d2a87c29e0" providerId="LiveId" clId="{D1FF976A-8D16-4AD0-8764-009580841FC3}" dt="2026-09-20T09:13:55.147" v="11" actId="22"/>
        <pc:sldMkLst>
          <pc:docMk/>
          <pc:sldMk cId="0" sldId="258"/>
        </pc:sldMkLst>
        <pc:spChg chg="add">
          <ac:chgData name="sai T V" userId="900c21d2a87c29e0" providerId="LiveId" clId="{D1FF976A-8D16-4AD0-8764-009580841FC3}" dt="2026-09-20T09:13:55.147" v="11" actId="22"/>
          <ac:spMkLst>
            <pc:docMk/>
            <pc:sldMk cId="0" sldId="258"/>
            <ac:spMk id="9" creationId="{D08B0526-FDFE-2906-F122-C891BD923EA8}"/>
          </ac:spMkLst>
        </pc:spChg>
      </pc:sldChg>
      <pc:sldChg chg="addSp mod">
        <pc:chgData name="sai T V" userId="900c21d2a87c29e0" providerId="LiveId" clId="{D1FF976A-8D16-4AD0-8764-009580841FC3}" dt="2026-09-20T09:13:58.731" v="12" actId="22"/>
        <pc:sldMkLst>
          <pc:docMk/>
          <pc:sldMk cId="0" sldId="259"/>
        </pc:sldMkLst>
        <pc:spChg chg="add">
          <ac:chgData name="sai T V" userId="900c21d2a87c29e0" providerId="LiveId" clId="{D1FF976A-8D16-4AD0-8764-009580841FC3}" dt="2026-09-20T09:13:58.731" v="12" actId="22"/>
          <ac:spMkLst>
            <pc:docMk/>
            <pc:sldMk cId="0" sldId="259"/>
            <ac:spMk id="27" creationId="{3D2ACDD4-53CE-C3B3-3ECA-0CCA2A79653A}"/>
          </ac:spMkLst>
        </pc:spChg>
      </pc:sldChg>
      <pc:sldChg chg="addSp mod">
        <pc:chgData name="sai T V" userId="900c21d2a87c29e0" providerId="LiveId" clId="{D1FF976A-8D16-4AD0-8764-009580841FC3}" dt="2026-09-20T09:14:01.555" v="13" actId="22"/>
        <pc:sldMkLst>
          <pc:docMk/>
          <pc:sldMk cId="0" sldId="260"/>
        </pc:sldMkLst>
        <pc:spChg chg="add">
          <ac:chgData name="sai T V" userId="900c21d2a87c29e0" providerId="LiveId" clId="{D1FF976A-8D16-4AD0-8764-009580841FC3}" dt="2026-09-20T09:14:01.555" v="13" actId="22"/>
          <ac:spMkLst>
            <pc:docMk/>
            <pc:sldMk cId="0" sldId="260"/>
            <ac:spMk id="12" creationId="{37D24448-DF27-F394-46FF-B778DA299314}"/>
          </ac:spMkLst>
        </pc:spChg>
      </pc:sldChg>
      <pc:sldChg chg="addSp mod">
        <pc:chgData name="sai T V" userId="900c21d2a87c29e0" providerId="LiveId" clId="{D1FF976A-8D16-4AD0-8764-009580841FC3}" dt="2026-09-20T09:13:46.931" v="9" actId="22"/>
        <pc:sldMkLst>
          <pc:docMk/>
          <pc:sldMk cId="0" sldId="261"/>
        </pc:sldMkLst>
        <pc:spChg chg="add">
          <ac:chgData name="sai T V" userId="900c21d2a87c29e0" providerId="LiveId" clId="{D1FF976A-8D16-4AD0-8764-009580841FC3}" dt="2026-09-20T09:13:46.931" v="9" actId="22"/>
          <ac:spMkLst>
            <pc:docMk/>
            <pc:sldMk cId="0" sldId="261"/>
            <ac:spMk id="14" creationId="{B26255BB-61A9-C3F8-1802-AF8496B0F5FC}"/>
          </ac:spMkLst>
        </pc:spChg>
      </pc:sldChg>
      <pc:sldChg chg="addSp mod">
        <pc:chgData name="sai T V" userId="900c21d2a87c29e0" providerId="LiveId" clId="{D1FF976A-8D16-4AD0-8764-009580841FC3}" dt="2026-09-20T09:13:42.681" v="8" actId="22"/>
        <pc:sldMkLst>
          <pc:docMk/>
          <pc:sldMk cId="0" sldId="262"/>
        </pc:sldMkLst>
        <pc:spChg chg="add">
          <ac:chgData name="sai T V" userId="900c21d2a87c29e0" providerId="LiveId" clId="{D1FF976A-8D16-4AD0-8764-009580841FC3}" dt="2026-09-20T09:13:42.681" v="8" actId="22"/>
          <ac:spMkLst>
            <pc:docMk/>
            <pc:sldMk cId="0" sldId="262"/>
            <ac:spMk id="12" creationId="{D6449E21-4C3E-3A48-C8AB-D608DE8314A3}"/>
          </ac:spMkLst>
        </pc:spChg>
      </pc:sldChg>
      <pc:sldChg chg="addSp mod">
        <pc:chgData name="sai T V" userId="900c21d2a87c29e0" providerId="LiveId" clId="{D1FF976A-8D16-4AD0-8764-009580841FC3}" dt="2026-09-20T09:13:40.225" v="7" actId="22"/>
        <pc:sldMkLst>
          <pc:docMk/>
          <pc:sldMk cId="0" sldId="263"/>
        </pc:sldMkLst>
        <pc:spChg chg="add">
          <ac:chgData name="sai T V" userId="900c21d2a87c29e0" providerId="LiveId" clId="{D1FF976A-8D16-4AD0-8764-009580841FC3}" dt="2026-09-20T09:13:40.225" v="7" actId="22"/>
          <ac:spMkLst>
            <pc:docMk/>
            <pc:sldMk cId="0" sldId="263"/>
            <ac:spMk id="16" creationId="{25948999-10DA-8173-78A2-B1C565259B6C}"/>
          </ac:spMkLst>
        </pc:spChg>
      </pc:sldChg>
      <pc:sldChg chg="addSp mod">
        <pc:chgData name="sai T V" userId="900c21d2a87c29e0" providerId="LiveId" clId="{D1FF976A-8D16-4AD0-8764-009580841FC3}" dt="2026-09-20T09:13:36.633" v="6" actId="22"/>
        <pc:sldMkLst>
          <pc:docMk/>
          <pc:sldMk cId="0" sldId="264"/>
        </pc:sldMkLst>
        <pc:spChg chg="add">
          <ac:chgData name="sai T V" userId="900c21d2a87c29e0" providerId="LiveId" clId="{D1FF976A-8D16-4AD0-8764-009580841FC3}" dt="2026-09-20T09:13:36.633" v="6" actId="22"/>
          <ac:spMkLst>
            <pc:docMk/>
            <pc:sldMk cId="0" sldId="264"/>
            <ac:spMk id="17" creationId="{D96D3D1A-5E76-2922-476D-0D08459E93C6}"/>
          </ac:spMkLst>
        </pc:spChg>
      </pc:sldChg>
      <pc:sldChg chg="addSp mod">
        <pc:chgData name="sai T V" userId="900c21d2a87c29e0" providerId="LiveId" clId="{D1FF976A-8D16-4AD0-8764-009580841FC3}" dt="2026-09-20T09:13:34.310" v="5" actId="22"/>
        <pc:sldMkLst>
          <pc:docMk/>
          <pc:sldMk cId="0" sldId="265"/>
        </pc:sldMkLst>
        <pc:spChg chg="add">
          <ac:chgData name="sai T V" userId="900c21d2a87c29e0" providerId="LiveId" clId="{D1FF976A-8D16-4AD0-8764-009580841FC3}" dt="2026-09-20T09:13:34.310" v="5" actId="22"/>
          <ac:spMkLst>
            <pc:docMk/>
            <pc:sldMk cId="0" sldId="265"/>
            <ac:spMk id="21" creationId="{EF81099D-043A-DE9D-C24A-3E57F2757459}"/>
          </ac:spMkLst>
        </pc:spChg>
      </pc:sldChg>
      <pc:sldChg chg="addSp mod">
        <pc:chgData name="sai T V" userId="900c21d2a87c29e0" providerId="LiveId" clId="{D1FF976A-8D16-4AD0-8764-009580841FC3}" dt="2026-09-20T09:13:32.188" v="4" actId="22"/>
        <pc:sldMkLst>
          <pc:docMk/>
          <pc:sldMk cId="0" sldId="266"/>
        </pc:sldMkLst>
        <pc:spChg chg="add">
          <ac:chgData name="sai T V" userId="900c21d2a87c29e0" providerId="LiveId" clId="{D1FF976A-8D16-4AD0-8764-009580841FC3}" dt="2026-09-20T09:13:32.188" v="4" actId="22"/>
          <ac:spMkLst>
            <pc:docMk/>
            <pc:sldMk cId="0" sldId="266"/>
            <ac:spMk id="30" creationId="{56891FAC-A03B-6D8E-7DB7-AE88C89F5ABB}"/>
          </ac:spMkLst>
        </pc:spChg>
      </pc:sldChg>
      <pc:sldChg chg="addSp mod">
        <pc:chgData name="sai T V" userId="900c21d2a87c29e0" providerId="LiveId" clId="{D1FF976A-8D16-4AD0-8764-009580841FC3}" dt="2026-09-20T09:13:30.027" v="3" actId="22"/>
        <pc:sldMkLst>
          <pc:docMk/>
          <pc:sldMk cId="0" sldId="267"/>
        </pc:sldMkLst>
        <pc:spChg chg="add">
          <ac:chgData name="sai T V" userId="900c21d2a87c29e0" providerId="LiveId" clId="{D1FF976A-8D16-4AD0-8764-009580841FC3}" dt="2026-09-20T09:13:30.027" v="3" actId="22"/>
          <ac:spMkLst>
            <pc:docMk/>
            <pc:sldMk cId="0" sldId="267"/>
            <ac:spMk id="18" creationId="{B8C015DD-91A8-8AF7-21CD-D16B73B0BFDA}"/>
          </ac:spMkLst>
        </pc:spChg>
      </pc:sldChg>
      <pc:sldChg chg="addSp modSp mod">
        <pc:chgData name="sai T V" userId="900c21d2a87c29e0" providerId="LiveId" clId="{D1FF976A-8D16-4AD0-8764-009580841FC3}" dt="2026-09-20T09:13:21.514" v="2" actId="207"/>
        <pc:sldMkLst>
          <pc:docMk/>
          <pc:sldMk cId="0" sldId="268"/>
        </pc:sldMkLst>
        <pc:spChg chg="add mod">
          <ac:chgData name="sai T V" userId="900c21d2a87c29e0" providerId="LiveId" clId="{D1FF976A-8D16-4AD0-8764-009580841FC3}" dt="2026-09-20T09:13:21.514" v="2" actId="207"/>
          <ac:spMkLst>
            <pc:docMk/>
            <pc:sldMk cId="0" sldId="268"/>
            <ac:spMk id="15" creationId="{331FA394-AEEB-972F-D31B-06B1994660A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48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>
              <a:alpha val="8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enesis-Blockers/Genesis-Blocker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18" Type="http://schemas.openxmlformats.org/officeDocument/2006/relationships/image" Target="../media/image2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7284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Automated Attribution of Unknown Cryptocurrency Wallets to Nearest VASPs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237607"/>
            <a:ext cx="10868745" cy="184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 Intelligence + Transaction Graph Analysis + Evidence-Based Attribution</a:t>
            </a:r>
            <a:endParaRPr lang="en-US" sz="1450" dirty="0"/>
          </a:p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Genesis-Blockers | Smart India Hackathon</a:t>
            </a:r>
            <a:endParaRPr lang="en-US" sz="1450" dirty="0"/>
          </a:p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an unknown blockchain address to an evidence-backed VASP attribution.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b="1" u="sng" dirty="0">
                <a:solidFill>
                  <a:srgbClr val="AC9EF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github.com/Genesis-Blockers/Genesis-Blockers</a:t>
            </a:r>
            <a:endParaRPr lang="en-US" sz="145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B981E7-BB10-EB39-E756-476B75314550}"/>
              </a:ext>
            </a:extLst>
          </p:cNvPr>
          <p:cNvSpPr/>
          <p:nvPr/>
        </p:nvSpPr>
        <p:spPr>
          <a:xfrm>
            <a:off x="0" y="6512767"/>
            <a:ext cx="12192000" cy="345233"/>
          </a:xfrm>
          <a:prstGeom prst="round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3F0C82-EADE-FAC0-E7AE-AEB0DA6D73A1}"/>
              </a:ext>
            </a:extLst>
          </p:cNvPr>
          <p:cNvSpPr/>
          <p:nvPr/>
        </p:nvSpPr>
        <p:spPr>
          <a:xfrm>
            <a:off x="-153" y="0"/>
            <a:ext cx="12192000" cy="345233"/>
          </a:xfrm>
          <a:prstGeom prst="round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6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Problem: Why Attribution Is Hard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527274"/>
            <a:ext cx="5339820" cy="567035"/>
          </a:xfrm>
          <a:prstGeom prst="roundRect">
            <a:avLst>
              <a:gd name="adj" fmla="val 49999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3189605" y="163353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482" y="228332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PSEUDONYMITY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0482" y="2692003"/>
            <a:ext cx="4961806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 addresses do not inherently reveal real-world ownership or VASP identity.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0301" y="1527274"/>
            <a:ext cx="5339919" cy="567035"/>
          </a:xfrm>
          <a:prstGeom prst="roundRect">
            <a:avLst>
              <a:gd name="adj" fmla="val 49999"/>
            </a:avLst>
          </a:prstGeom>
          <a:solidFill>
            <a:srgbClr val="4C5052"/>
          </a:solidFill>
          <a:ln/>
        </p:spPr>
      </p:sp>
      <p:sp>
        <p:nvSpPr>
          <p:cNvPr id="8" name="Text 6"/>
          <p:cNvSpPr/>
          <p:nvPr/>
        </p:nvSpPr>
        <p:spPr>
          <a:xfrm>
            <a:off x="8718530" y="163353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79308" y="2283321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TRANSACTION COMPLEXITY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79308" y="2692003"/>
            <a:ext cx="4961905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wallet can interact with a large and rapidly changing set of addresses.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1475" y="3553817"/>
            <a:ext cx="5339820" cy="567035"/>
          </a:xfrm>
          <a:prstGeom prst="roundRect">
            <a:avLst>
              <a:gd name="adj" fmla="val 49999"/>
            </a:avLst>
          </a:prstGeom>
          <a:solidFill>
            <a:srgbClr val="4C5052"/>
          </a:solidFill>
          <a:ln/>
        </p:spPr>
      </p:sp>
      <p:sp>
        <p:nvSpPr>
          <p:cNvPr id="12" name="Text 10"/>
          <p:cNvSpPr/>
          <p:nvPr/>
        </p:nvSpPr>
        <p:spPr>
          <a:xfrm>
            <a:off x="3189605" y="366008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0482" y="4309864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INTERMEDIARY HOPS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0482" y="4718546"/>
            <a:ext cx="4961806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Funds can move through multiple intermediate wallets before reaching a known service.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0301" y="3553817"/>
            <a:ext cx="5339919" cy="567035"/>
          </a:xfrm>
          <a:prstGeom prst="roundRect">
            <a:avLst>
              <a:gd name="adj" fmla="val 49999"/>
            </a:avLst>
          </a:prstGeom>
          <a:solidFill>
            <a:srgbClr val="4C5052"/>
          </a:solidFill>
          <a:ln/>
        </p:spPr>
      </p:sp>
      <p:sp>
        <p:nvSpPr>
          <p:cNvPr id="16" name="Text 14"/>
          <p:cNvSpPr/>
          <p:nvPr/>
        </p:nvSpPr>
        <p:spPr>
          <a:xfrm>
            <a:off x="8718530" y="366008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79308" y="4309864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DIRECT MATCHING IS INSUFFICIENT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379308" y="4718546"/>
            <a:ext cx="4961905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Address-to-label lookups cannot explain attribution when relevant relationships occur across multiple transaction hops.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1475" y="5603974"/>
            <a:ext cx="10868745" cy="695424"/>
          </a:xfrm>
          <a:prstGeom prst="roundRect">
            <a:avLst>
              <a:gd name="adj" fmla="val 4077"/>
            </a:avLst>
          </a:prstGeom>
          <a:solidFill>
            <a:srgbClr val="4B3F02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879306"/>
            <a:ext cx="189007" cy="15120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28496" y="5840214"/>
            <a:ext cx="10722302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RAW BLOCKCHAIN ACTIVITY ≠ ACTIONABLE ATTRIBUTION</a:t>
            </a:r>
            <a:endParaRPr lang="en-US" sz="115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FCF9A06-CAE8-9F82-56FE-FA815603B099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ound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1031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Our Core Idea: Progressive Filtering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1516955"/>
            <a:ext cx="10868745" cy="623689"/>
          </a:xfrm>
          <a:prstGeom prst="roundRect">
            <a:avLst>
              <a:gd name="adj" fmla="val 4262"/>
            </a:avLst>
          </a:prstGeom>
          <a:solidFill>
            <a:srgbClr val="02234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75" y="1762026"/>
            <a:ext cx="177200" cy="1416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3076" y="1727299"/>
            <a:ext cx="10769529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searching the entire blockchain for a label, the system progressively narrows the search space using transaction, graph, and entity evidence.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887" y="2327473"/>
            <a:ext cx="6111921" cy="34380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5952331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reduce a massive blockchain search space into a small set of relevant VASP candidates.</a:t>
            </a:r>
            <a:endParaRPr lang="en-US" sz="135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08B0526-FDFE-2906-F122-C891BD923EA8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ound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47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End-to-End System Architecture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336675"/>
            <a:ext cx="5351329" cy="950615"/>
          </a:xfrm>
          <a:prstGeom prst="roundRect">
            <a:avLst>
              <a:gd name="adj" fmla="val 2796"/>
            </a:avLst>
          </a:prstGeom>
          <a:solidFill>
            <a:srgbClr val="1F7135"/>
          </a:solidFill>
          <a:ln/>
        </p:spPr>
      </p:sp>
      <p:sp>
        <p:nvSpPr>
          <p:cNvPr id="4" name="Text 2"/>
          <p:cNvSpPr/>
          <p:nvPr/>
        </p:nvSpPr>
        <p:spPr>
          <a:xfrm>
            <a:off x="838675" y="1513880"/>
            <a:ext cx="49969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1. USER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178892" y="1336675"/>
            <a:ext cx="5351329" cy="950615"/>
          </a:xfrm>
          <a:prstGeom prst="roundRect">
            <a:avLst>
              <a:gd name="adj" fmla="val 2796"/>
            </a:avLst>
          </a:prstGeom>
          <a:solidFill>
            <a:srgbClr val="1F7135"/>
          </a:solidFill>
          <a:ln/>
        </p:spPr>
      </p:sp>
      <p:sp>
        <p:nvSpPr>
          <p:cNvPr id="6" name="Text 4"/>
          <p:cNvSpPr/>
          <p:nvPr/>
        </p:nvSpPr>
        <p:spPr>
          <a:xfrm>
            <a:off x="6356092" y="1513880"/>
            <a:ext cx="49969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2. FRONTEND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56092" y="1890415"/>
            <a:ext cx="4996928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submits wallet address and analysis parameters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1475" y="2453382"/>
            <a:ext cx="5351329" cy="1170285"/>
          </a:xfrm>
          <a:prstGeom prst="roundRect">
            <a:avLst>
              <a:gd name="adj" fmla="val 2271"/>
            </a:avLst>
          </a:prstGeom>
          <a:solidFill>
            <a:srgbClr val="1F7135"/>
          </a:solidFill>
          <a:ln/>
        </p:spPr>
      </p:sp>
      <p:sp>
        <p:nvSpPr>
          <p:cNvPr id="9" name="Text 7"/>
          <p:cNvSpPr/>
          <p:nvPr/>
        </p:nvSpPr>
        <p:spPr>
          <a:xfrm>
            <a:off x="838675" y="2630587"/>
            <a:ext cx="49969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3. BACKEND / API ORCHESTRATION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38675" y="3007122"/>
            <a:ext cx="4996928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Coordinates the analysis pipeline and service communication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8892" y="2453382"/>
            <a:ext cx="5351329" cy="1170285"/>
          </a:xfrm>
          <a:prstGeom prst="roundRect">
            <a:avLst>
              <a:gd name="adj" fmla="val 2271"/>
            </a:avLst>
          </a:prstGeom>
          <a:solidFill>
            <a:srgbClr val="1F7135"/>
          </a:solidFill>
          <a:ln/>
        </p:spPr>
      </p:sp>
      <p:sp>
        <p:nvSpPr>
          <p:cNvPr id="12" name="Text 10"/>
          <p:cNvSpPr/>
          <p:nvPr/>
        </p:nvSpPr>
        <p:spPr>
          <a:xfrm>
            <a:off x="6356092" y="2630587"/>
            <a:ext cx="49969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4. DATA LAYER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56092" y="3007122"/>
            <a:ext cx="4996928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BLOCKCHAIN SERVICE:</a:t>
            </a: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Retrieves and normalizes relevant blockchain transaction intelligence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1475" y="3789759"/>
            <a:ext cx="5351329" cy="1170285"/>
          </a:xfrm>
          <a:prstGeom prst="roundRect">
            <a:avLst>
              <a:gd name="adj" fmla="val 2271"/>
            </a:avLst>
          </a:prstGeom>
          <a:solidFill>
            <a:srgbClr val="1F7135"/>
          </a:solidFill>
          <a:ln/>
        </p:spPr>
      </p:sp>
      <p:sp>
        <p:nvSpPr>
          <p:cNvPr id="15" name="Text 13"/>
          <p:cNvSpPr/>
          <p:nvPr/>
        </p:nvSpPr>
        <p:spPr>
          <a:xfrm>
            <a:off x="838675" y="3966964"/>
            <a:ext cx="49969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5. GRAPH INTELLIGENCE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8675" y="4343499"/>
            <a:ext cx="4996928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GRAPH SERVICE:</a:t>
            </a: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Converts transaction relationships into a traversable transaction graph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8892" y="3789759"/>
            <a:ext cx="5351329" cy="1170285"/>
          </a:xfrm>
          <a:prstGeom prst="roundRect">
            <a:avLst>
              <a:gd name="adj" fmla="val 2271"/>
            </a:avLst>
          </a:prstGeom>
          <a:solidFill>
            <a:srgbClr val="1F7135"/>
          </a:solidFill>
          <a:ln/>
        </p:spPr>
      </p:sp>
      <p:sp>
        <p:nvSpPr>
          <p:cNvPr id="18" name="Text 16"/>
          <p:cNvSpPr/>
          <p:nvPr/>
        </p:nvSpPr>
        <p:spPr>
          <a:xfrm>
            <a:off x="6356092" y="3966964"/>
            <a:ext cx="49969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6. ATTRIBUTION LAYER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56092" y="4343499"/>
            <a:ext cx="4996928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SCORING SERVICE:</a:t>
            </a: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Evaluates and ranks candidate entities using accumulated evidence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1475" y="5126137"/>
            <a:ext cx="5351329" cy="1170285"/>
          </a:xfrm>
          <a:prstGeom prst="roundRect">
            <a:avLst>
              <a:gd name="adj" fmla="val 2271"/>
            </a:avLst>
          </a:prstGeom>
          <a:solidFill>
            <a:srgbClr val="1F7135"/>
          </a:solidFill>
          <a:ln/>
        </p:spPr>
      </p:sp>
      <p:sp>
        <p:nvSpPr>
          <p:cNvPr id="21" name="Text 19"/>
          <p:cNvSpPr/>
          <p:nvPr/>
        </p:nvSpPr>
        <p:spPr>
          <a:xfrm>
            <a:off x="838675" y="5303341"/>
            <a:ext cx="49969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7. VASP INTELLIGENCE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8675" y="5679877"/>
            <a:ext cx="4996928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known VASP/entity information for candidate identification and enrichment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8892" y="5126137"/>
            <a:ext cx="5351329" cy="1170285"/>
          </a:xfrm>
          <a:prstGeom prst="roundRect">
            <a:avLst>
              <a:gd name="adj" fmla="val 2271"/>
            </a:avLst>
          </a:prstGeom>
          <a:solidFill>
            <a:srgbClr val="1F7135"/>
          </a:solidFill>
          <a:ln/>
        </p:spPr>
      </p:sp>
      <p:sp>
        <p:nvSpPr>
          <p:cNvPr id="24" name="Text 22"/>
          <p:cNvSpPr/>
          <p:nvPr/>
        </p:nvSpPr>
        <p:spPr>
          <a:xfrm>
            <a:off x="6356092" y="5303341"/>
            <a:ext cx="49969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8. ATTRIBUTION RESULT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56092" y="5679877"/>
            <a:ext cx="4996928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relevant VASP candidates with supporting evidence and confidence indicators</a:t>
            </a:r>
            <a:endParaRPr lang="en-US" sz="11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D2ACDD4-53CE-C3B3-3ECA-0CCA2A79653A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ound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782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From Blockchain Transactions to a Transaction Graph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47144"/>
            <a:ext cx="10868745" cy="695424"/>
          </a:xfrm>
          <a:prstGeom prst="roundRect">
            <a:avLst>
              <a:gd name="adj" fmla="val 4077"/>
            </a:avLst>
          </a:prstGeom>
          <a:solidFill>
            <a:srgbClr val="AFCBF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2822476"/>
            <a:ext cx="189007" cy="1512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8496" y="2783384"/>
            <a:ext cx="10722302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910D0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entities are connected to this wallet, how closely are they connected, and through what transaction paths?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3455194"/>
            <a:ext cx="10868745" cy="696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looking at transactions independently, we model relationships between addresses as a graph.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 WALLET   ——————————&gt; WALLET A —————————&gt;WALLET B —————————————————→KNOWN VASP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1475" y="4534297"/>
            <a:ext cx="581337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u="sng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NODES: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1475" y="4946253"/>
            <a:ext cx="5203794" cy="857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 addresses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blockchain entities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 VASP/entity nodes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32776" y="4534297"/>
            <a:ext cx="581337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u="sng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EDGES: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332776" y="4946253"/>
            <a:ext cx="5203794" cy="791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/ transfer relationships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Edge attributes:</a:t>
            </a: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sender, receiver, asset/value, timestamp, transaction ID, blockchain/network</a:t>
            </a:r>
            <a:endParaRPr lang="en-US" sz="115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D24448-DF27-F394-46FF-B778DA299314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ound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823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Multi-Hop Neighborhood Discovery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685" y="1441748"/>
            <a:ext cx="4440325" cy="20320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28218" y="1702374"/>
            <a:ext cx="982223" cy="122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2+ HOP Network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7128218" y="1860079"/>
            <a:ext cx="1082629" cy="190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Indirect peers and paths to known entries.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3980737" y="2356455"/>
            <a:ext cx="995320" cy="245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1-HOP Counterparties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980737" y="2636942"/>
            <a:ext cx="995320" cy="9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1000"/>
              </a:lnSpc>
              <a:buNone/>
            </a:pPr>
            <a:r>
              <a:rPr lang="en-US" sz="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transaction peers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7128218" y="2715181"/>
            <a:ext cx="982223" cy="122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Unknown Wallet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128218" y="2872886"/>
            <a:ext cx="1082629" cy="190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node under investigation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61475" y="3660676"/>
            <a:ext cx="10868745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attribution signals may exist several transactions away from the original wallet. The graph service performs neighborhood discovery and traversal to expose these relationships.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1475" y="4286845"/>
            <a:ext cx="10868745" cy="1608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Hop-based traversal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components / neighborhoods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paths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Counterparty relationships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Proximity to known entities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graph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1475" y="6082407"/>
            <a:ext cx="11478330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traversal converts an unstructured transaction history into an analyzable relationship network.</a:t>
            </a:r>
            <a:endParaRPr lang="en-US" sz="11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26255BB-61A9-C3F8-1802-AF8496B0F5FC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ound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664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Crux: Progressive Candidate Filtering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755" y="1436588"/>
            <a:ext cx="6686184" cy="3760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75156" y="1886444"/>
            <a:ext cx="650843" cy="22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Transaction Relevance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371081" y="2960414"/>
            <a:ext cx="688139" cy="739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1000"/>
              </a:lnSpc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Transaction</a:t>
            </a:r>
            <a:endParaRPr lang="en-US" sz="750" dirty="0"/>
          </a:p>
          <a:p>
            <a:pPr marL="0" indent="0" algn="ctr">
              <a:lnSpc>
                <a:spcPct val="101000"/>
              </a:lnSpc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Evidence</a:t>
            </a:r>
            <a:endParaRPr lang="en-US" sz="750" dirty="0"/>
          </a:p>
          <a:p>
            <a:pPr marL="0" indent="0" algn="ctr">
              <a:lnSpc>
                <a:spcPct val="101000"/>
              </a:lnSpc>
              <a:spcAft>
                <a:spcPts val="400"/>
              </a:spcAft>
              <a:buNone/>
            </a:pPr>
            <a:endParaRPr lang="en-US" sz="750" dirty="0"/>
          </a:p>
          <a:p>
            <a:pPr marL="0" indent="0" algn="ctr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Entity/VASP Intelligence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7595399" y="1886444"/>
            <a:ext cx="1111343" cy="22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Unknown, large blockchain search space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594563" y="2426772"/>
            <a:ext cx="1271391" cy="215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addresses by proximity to target entity/entities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593727" y="4041594"/>
            <a:ext cx="1200038" cy="207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and rank by strength of attribution evidence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927275" y="5571232"/>
            <a:ext cx="10602945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value of the system is not merely finding a VASP — it is systematically filtering the search space to reach the relevant candidates.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1475" y="5384403"/>
            <a:ext cx="19050" cy="922933"/>
          </a:xfrm>
          <a:prstGeom prst="roundRect">
            <a:avLst>
              <a:gd name="adj" fmla="val 49999"/>
            </a:avLst>
          </a:prstGeom>
          <a:solidFill>
            <a:srgbClr val="AC9EF5"/>
          </a:solidFill>
          <a:ln/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449E21-4C3E-3A48-C8AB-D608DE8314A3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ound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61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From Candidates to Explainable Attribution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02370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Evidence Aggregation Model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40248"/>
            <a:ext cx="3622882" cy="756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482" y="3085306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CANDIDATE VASP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3493988"/>
            <a:ext cx="32448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evidence from: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50482" y="3909814"/>
            <a:ext cx="3244868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Proximity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Evidence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Entity/VASP Intelligence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Relationships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140248"/>
            <a:ext cx="3622882" cy="756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73364" y="3085306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EVIDENCE SCORE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473364" y="3493988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evidence signals into a attribution score.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140248"/>
            <a:ext cx="3622882" cy="7560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6246" y="3085306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RANKED CANDIDATES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096246" y="3493988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candidates by accumulated evidence.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61475" y="571936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scoring layer combines multiple evidence signals instead of relying on a single address label or transaction.</a:t>
            </a:r>
            <a:endParaRPr lang="en-US" sz="14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948999-10DA-8173-78A2-B1C565259B6C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ound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207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Explainability: WHO, WHY, HOW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8946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RESULT ANSWERS: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804914"/>
            <a:ext cx="94454" cy="94456"/>
          </a:xfrm>
          <a:prstGeom prst="ellipse">
            <a:avLst/>
          </a:prstGeom>
          <a:solidFill>
            <a:srgbClr val="AC9EF5"/>
          </a:solidFill>
          <a:ln/>
        </p:spPr>
      </p:sp>
      <p:sp>
        <p:nvSpPr>
          <p:cNvPr id="5" name="Text 3"/>
          <p:cNvSpPr/>
          <p:nvPr/>
        </p:nvSpPr>
        <p:spPr>
          <a:xfrm>
            <a:off x="944936" y="2704505"/>
            <a:ext cx="3181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WHO?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44936" y="3113187"/>
            <a:ext cx="3181965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VASP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63135" y="2804914"/>
            <a:ext cx="94454" cy="94456"/>
          </a:xfrm>
          <a:prstGeom prst="ellipse">
            <a:avLst/>
          </a:prstGeom>
          <a:solidFill>
            <a:srgbClr val="AC9EF5"/>
          </a:solidFill>
          <a:ln/>
        </p:spPr>
      </p:sp>
      <p:sp>
        <p:nvSpPr>
          <p:cNvPr id="8" name="Text 6"/>
          <p:cNvSpPr/>
          <p:nvPr/>
        </p:nvSpPr>
        <p:spPr>
          <a:xfrm>
            <a:off x="4646595" y="2704505"/>
            <a:ext cx="3181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WHY?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646595" y="3113187"/>
            <a:ext cx="3181965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transaction and graph evidence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4794" y="2804914"/>
            <a:ext cx="94454" cy="94456"/>
          </a:xfrm>
          <a:prstGeom prst="ellipse">
            <a:avLst/>
          </a:prstGeom>
          <a:solidFill>
            <a:srgbClr val="AC9EF5"/>
          </a:solidFill>
          <a:ln/>
        </p:spPr>
      </p:sp>
      <p:sp>
        <p:nvSpPr>
          <p:cNvPr id="11" name="Text 9"/>
          <p:cNvSpPr/>
          <p:nvPr/>
        </p:nvSpPr>
        <p:spPr>
          <a:xfrm>
            <a:off x="8348255" y="2704505"/>
            <a:ext cx="3181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HOW?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348255" y="3113187"/>
            <a:ext cx="3181965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multi-hop path / relationship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1475" y="356770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Example : 3 Candidates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1475" y="4082752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Candidate A: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Strong graph relationship + Strong transaction evidence = High accumulated evidence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Candidate B: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Moderate graph relationship + Strong transaction evidence = Moderate accumulated evidence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Candidate C: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Weak graph relationship + Limited transaction evidence = Lower accumulated evidence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33479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makes the attribution process transparent and auditable.</a:t>
            </a:r>
            <a:endParaRPr lang="en-US" sz="145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6D3D1A-5E76-2922-476D-0D08459E93C6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ound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0033"/>
            <a:ext cx="1086874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Output: Investigative Intelligence Platform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61475" y="1503263"/>
            <a:ext cx="2347060" cy="2155627"/>
          </a:xfrm>
          <a:prstGeom prst="roundRect">
            <a:avLst>
              <a:gd name="adj" fmla="val 1274"/>
            </a:avLst>
          </a:prstGeom>
          <a:solidFill>
            <a:srgbClr val="2D3133"/>
          </a:solidFill>
          <a:ln w="25399">
            <a:solidFill>
              <a:srgbClr val="6569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9928" y="1711722"/>
            <a:ext cx="193015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TARGET WALLET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9928" y="2175073"/>
            <a:ext cx="1930153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0xAbCdEf123...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9928" y="2629495"/>
            <a:ext cx="1930153" cy="461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 submitted for attribution analysis.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85834" y="1503263"/>
            <a:ext cx="2347159" cy="2155627"/>
          </a:xfrm>
          <a:prstGeom prst="roundRect">
            <a:avLst>
              <a:gd name="adj" fmla="val 1274"/>
            </a:avLst>
          </a:prstGeom>
          <a:solidFill>
            <a:srgbClr val="2D3133"/>
          </a:solidFill>
          <a:ln w="25399">
            <a:solidFill>
              <a:srgbClr val="6569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4288" y="1711722"/>
            <a:ext cx="1930252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CANDIDATE VASPS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94288" y="2461121"/>
            <a:ext cx="1930252" cy="989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Exchange X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 Service Y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Brokerage Z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1475" y="3858419"/>
            <a:ext cx="4871519" cy="2220020"/>
          </a:xfrm>
          <a:prstGeom prst="roundRect">
            <a:avLst>
              <a:gd name="adj" fmla="val 1237"/>
            </a:avLst>
          </a:prstGeom>
          <a:solidFill>
            <a:srgbClr val="2D3133"/>
          </a:solidFill>
          <a:ln w="25399">
            <a:solidFill>
              <a:srgbClr val="6569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9928" y="4066877"/>
            <a:ext cx="445461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SUPPORTING EVIDENCE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9928" y="4530229"/>
            <a:ext cx="4454612" cy="1339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IDs / hashes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Transaction relationships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Graph paths / hop relationships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Known VASP / entity information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86015" y="1503263"/>
            <a:ext cx="5550456" cy="1290638"/>
          </a:xfrm>
          <a:prstGeom prst="roundRect">
            <a:avLst>
              <a:gd name="adj" fmla="val 2128"/>
            </a:avLst>
          </a:prstGeom>
          <a:solidFill>
            <a:srgbClr val="4C5052"/>
          </a:solidFill>
          <a:ln/>
        </p:spPr>
      </p:sp>
      <p:sp>
        <p:nvSpPr>
          <p:cNvPr id="14" name="Text 12"/>
          <p:cNvSpPr/>
          <p:nvPr/>
        </p:nvSpPr>
        <p:spPr>
          <a:xfrm>
            <a:off x="6169069" y="1686322"/>
            <a:ext cx="518434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TRANSACTION / GRAPH PATH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69069" y="2149673"/>
            <a:ext cx="5184348" cy="461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representation of transaction relationships and relevant multi-hop connections.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6015" y="2993430"/>
            <a:ext cx="5550456" cy="2089150"/>
          </a:xfrm>
          <a:prstGeom prst="roundRect">
            <a:avLst>
              <a:gd name="adj" fmla="val 1315"/>
            </a:avLst>
          </a:prstGeom>
          <a:solidFill>
            <a:srgbClr val="4C5052"/>
          </a:solidFill>
          <a:ln/>
        </p:spPr>
      </p:sp>
      <p:sp>
        <p:nvSpPr>
          <p:cNvPr id="17" name="Text 15"/>
          <p:cNvSpPr/>
          <p:nvPr/>
        </p:nvSpPr>
        <p:spPr>
          <a:xfrm>
            <a:off x="6169069" y="3176488"/>
            <a:ext cx="518434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RANKED ATTRIBUTION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69069" y="3639840"/>
            <a:ext cx="5184348" cy="638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VASP A — Strong supporting evidence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VASP B — Moderate supporting evidence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69069" y="4438352"/>
            <a:ext cx="5184348" cy="461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are ranked using accumulated graph, transaction, and entity evidence.</a:t>
            </a:r>
            <a:endParaRPr lang="en-US" sz="115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F81099D-043A-DE9D-C24A-3E57F2757459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ound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5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Demo Flow: User Journey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17774"/>
            <a:ext cx="3248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1. ENTER WALLET ADDRESS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772" y="1496219"/>
            <a:ext cx="3804051" cy="38041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3959" y="1957388"/>
            <a:ext cx="282766" cy="2827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81284" y="1570137"/>
            <a:ext cx="3248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2. SELECT BLOCKCHAIN / ANALYSIS PARAMETERS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72" y="1496219"/>
            <a:ext cx="3804051" cy="3804146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730" y="2132608"/>
            <a:ext cx="282766" cy="28277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281284" y="2591991"/>
            <a:ext cx="3248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3. COLLECT BLOCKCHAIN INTELLIGENCE</a:t>
            </a:r>
            <a:endParaRPr lang="en-US" sz="18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772" y="1496219"/>
            <a:ext cx="3804051" cy="3804146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3701" y="2966343"/>
            <a:ext cx="282766" cy="282773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281284" y="3613845"/>
            <a:ext cx="3248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4. BUILD TRANSACTION GRAPH</a:t>
            </a:r>
            <a:endParaRPr lang="en-US" sz="185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3772" y="1496219"/>
            <a:ext cx="3804051" cy="3804146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78485" y="3970139"/>
            <a:ext cx="282766" cy="282773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8281284" y="4635798"/>
            <a:ext cx="3248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5. TRAVERSE RELEVANT MULTI-HOP NEIGHBORHOOD</a:t>
            </a:r>
            <a:endParaRPr lang="en-US" sz="185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3772" y="1496219"/>
            <a:ext cx="3804051" cy="3804146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4771" y="4556125"/>
            <a:ext cx="282766" cy="282773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661475" y="4635798"/>
            <a:ext cx="324883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6. GENERATE VASP CANDIDATES</a:t>
            </a:r>
            <a:endParaRPr lang="en-US" sz="185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3772" y="1496219"/>
            <a:ext cx="3804051" cy="3804146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41000" y="4380905"/>
            <a:ext cx="282766" cy="282773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61475" y="3613845"/>
            <a:ext cx="324883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7. AGGREGATE EVIDENCE + SCORE</a:t>
            </a:r>
            <a:endParaRPr lang="en-US" sz="1850" dirty="0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3772" y="1496219"/>
            <a:ext cx="3804051" cy="3804146"/>
          </a:xfrm>
          <a:prstGeom prst="rect">
            <a:avLst/>
          </a:prstGeom>
        </p:spPr>
      </p:pic>
      <p:pic>
        <p:nvPicPr>
          <p:cNvPr id="23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55029" y="3547170"/>
            <a:ext cx="282766" cy="282773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661475" y="2739628"/>
            <a:ext cx="3248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8. DISPLAY ATTRIBUTION</a:t>
            </a:r>
            <a:endParaRPr lang="en-US" sz="185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3772" y="1496219"/>
            <a:ext cx="3804051" cy="3804146"/>
          </a:xfrm>
          <a:prstGeom prst="rect">
            <a:avLst/>
          </a:prstGeom>
        </p:spPr>
      </p:pic>
      <p:pic>
        <p:nvPicPr>
          <p:cNvPr id="26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30245" y="2543373"/>
            <a:ext cx="282766" cy="282773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661475" y="551299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endParaRPr lang="en-US" sz="1450" dirty="0"/>
          </a:p>
        </p:txBody>
      </p:sp>
      <p:sp>
        <p:nvSpPr>
          <p:cNvPr id="28" name="Text 10"/>
          <p:cNvSpPr/>
          <p:nvPr/>
        </p:nvSpPr>
        <p:spPr>
          <a:xfrm>
            <a:off x="356682" y="602803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45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6891FAC-A03B-6D8E-7DB7-AE88C89F5ABB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ound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936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Complete Attribution Pipeline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73398"/>
            <a:ext cx="3622882" cy="7206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552" y="2365673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UNKNOWN WALLET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473398"/>
            <a:ext cx="3622882" cy="7206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64434" y="2365673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BLOCKCHAIN INTELLIGENCE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473398"/>
            <a:ext cx="3622882" cy="7206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87316" y="2365673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TRANSACTION GRAPH</a:t>
            </a:r>
            <a:endParaRPr lang="en-US" sz="1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2827238"/>
            <a:ext cx="3622882" cy="7206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41552" y="3719513"/>
            <a:ext cx="32627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MULTI-HOP NEIGHBORHOOD DISCOVERY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4357" y="2827238"/>
            <a:ext cx="3622882" cy="72062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464434" y="3719513"/>
            <a:ext cx="32627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PROGRESSIVE CANDIDATE FILTERING</a:t>
            </a:r>
            <a:endParaRPr lang="en-US" sz="17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7239" y="2827238"/>
            <a:ext cx="3622882" cy="72062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087316" y="3719513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EVIDENCE SCORING</a:t>
            </a:r>
            <a:endParaRPr lang="en-US" sz="17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475" y="4462562"/>
            <a:ext cx="3622882" cy="720626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41552" y="5354836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VASP ATTRIBUTION</a:t>
            </a:r>
            <a:endParaRPr lang="en-US" sz="175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8C015DD-91A8-8AF7-21CD-D16B73B0BFDA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ound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5133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This Matters: System Impact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01838"/>
            <a:ext cx="3496877" cy="21047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6410" y="2943622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3557786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AUTOMATED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966468"/>
            <a:ext cx="3068065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manual effort in tracing complex blockchain transaction networks.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801838"/>
            <a:ext cx="3496877" cy="21047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2294" y="2943622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561766" y="3557786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GRAPH-DRIVEN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61766" y="3966468"/>
            <a:ext cx="3068065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transaction relationships and multi-hop connectivity instead of relying only on direct address labels.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801838"/>
            <a:ext cx="3496877" cy="21047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68179" y="2943622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47650" y="3557786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EXPLAINABLE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47650" y="3966468"/>
            <a:ext cx="3068065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Produces attribution supported by graph paths, transaction relationships, and accumulated evidence.</a:t>
            </a:r>
            <a:endParaRPr lang="en-US" sz="11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1FA394-AEEB-972F-D31B-06B1994660AC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ound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AC9EF5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878</Words>
  <Application>Microsoft Office PowerPoint</Application>
  <PresentationFormat>Widescreen</PresentationFormat>
  <Paragraphs>161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DM Sans Bold</vt:lpstr>
      <vt:lpstr>Inter Bold</vt:lpstr>
      <vt:lpstr>Inter</vt:lpstr>
      <vt:lpstr>Arial</vt:lpstr>
      <vt:lpstr>Consolas</vt:lpstr>
      <vt:lpstr>DM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DISEN</dc:creator>
  <cp:lastModifiedBy>sai T V</cp:lastModifiedBy>
  <cp:revision>1</cp:revision>
  <dcterms:created xsi:type="dcterms:W3CDTF">2026-09-17T18:47:35Z</dcterms:created>
  <dcterms:modified xsi:type="dcterms:W3CDTF">2026-09-20T09:14:40Z</dcterms:modified>
</cp:coreProperties>
</file>