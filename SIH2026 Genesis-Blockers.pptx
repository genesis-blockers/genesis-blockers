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7784D-DF0F-478E-8EA9-E1F6B868A485}" v="2" dt="2026-09-29T16:53:00.166"/>
    <p1510:client id="{5A4A698E-B74D-4AA5-B4A8-FB5571DCF952}" v="2" dt="2026-09-29T16:28:08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llelaabhinav1105@outlook.com" userId="d1f1e7a802c3af1d" providerId="LiveId" clId="{C2148ECE-E73B-4BB0-8DE0-C3E38CA96AE6}"/>
    <pc:docChg chg="custSel modSld">
      <pc:chgData name="pullelaabhinav1105@outlook.com" userId="d1f1e7a802c3af1d" providerId="LiveId" clId="{C2148ECE-E73B-4BB0-8DE0-C3E38CA96AE6}" dt="2026-09-29T16:54:52.471" v="272" actId="1076"/>
      <pc:docMkLst>
        <pc:docMk/>
      </pc:docMkLst>
      <pc:sldChg chg="modSp mod">
        <pc:chgData name="pullelaabhinav1105@outlook.com" userId="d1f1e7a802c3af1d" providerId="LiveId" clId="{C2148ECE-E73B-4BB0-8DE0-C3E38CA96AE6}" dt="2026-09-29T16:32:42.254" v="110" actId="255"/>
        <pc:sldMkLst>
          <pc:docMk/>
          <pc:sldMk cId="0" sldId="281"/>
        </pc:sldMkLst>
        <pc:spChg chg="mod">
          <ac:chgData name="pullelaabhinav1105@outlook.com" userId="d1f1e7a802c3af1d" providerId="LiveId" clId="{C2148ECE-E73B-4BB0-8DE0-C3E38CA96AE6}" dt="2026-09-29T16:31:01.477" v="53" actId="20577"/>
          <ac:spMkLst>
            <pc:docMk/>
            <pc:sldMk cId="0" sldId="281"/>
            <ac:spMk id="7" creationId="{00000000-0000-0000-0000-000000000000}"/>
          </ac:spMkLst>
        </pc:spChg>
        <pc:spChg chg="mod">
          <ac:chgData name="pullelaabhinav1105@outlook.com" userId="d1f1e7a802c3af1d" providerId="LiveId" clId="{C2148ECE-E73B-4BB0-8DE0-C3E38CA96AE6}" dt="2026-09-29T16:32:42.254" v="110" actId="255"/>
          <ac:spMkLst>
            <pc:docMk/>
            <pc:sldMk cId="0" sldId="281"/>
            <ac:spMk id="10" creationId="{5DBCE864-823D-4A13-9607-5DA1F0ED5FB8}"/>
          </ac:spMkLst>
        </pc:spChg>
      </pc:sldChg>
      <pc:sldChg chg="modSp mod">
        <pc:chgData name="pullelaabhinav1105@outlook.com" userId="d1f1e7a802c3af1d" providerId="LiveId" clId="{C2148ECE-E73B-4BB0-8DE0-C3E38CA96AE6}" dt="2026-09-29T16:32:32.961" v="109" actId="255"/>
        <pc:sldMkLst>
          <pc:docMk/>
          <pc:sldMk cId="0" sldId="290"/>
        </pc:sldMkLst>
        <pc:spChg chg="mod">
          <ac:chgData name="pullelaabhinav1105@outlook.com" userId="d1f1e7a802c3af1d" providerId="LiveId" clId="{C2148ECE-E73B-4BB0-8DE0-C3E38CA96AE6}" dt="2026-09-29T16:31:15.432" v="63" actId="6549"/>
          <ac:spMkLst>
            <pc:docMk/>
            <pc:sldMk cId="0" sldId="290"/>
            <ac:spMk id="7" creationId="{00000000-0000-0000-0000-000000000000}"/>
          </ac:spMkLst>
        </pc:spChg>
        <pc:spChg chg="mod">
          <ac:chgData name="pullelaabhinav1105@outlook.com" userId="d1f1e7a802c3af1d" providerId="LiveId" clId="{C2148ECE-E73B-4BB0-8DE0-C3E38CA96AE6}" dt="2026-09-29T16:32:32.961" v="109" actId="255"/>
          <ac:spMkLst>
            <pc:docMk/>
            <pc:sldMk cId="0" sldId="290"/>
            <ac:spMk id="11" creationId="{5DBCE864-823D-4A13-9607-5DA1F0ED5FB8}"/>
          </ac:spMkLst>
        </pc:spChg>
      </pc:sldChg>
      <pc:sldChg chg="addSp delSp modSp mod">
        <pc:chgData name="pullelaabhinav1105@outlook.com" userId="d1f1e7a802c3af1d" providerId="LiveId" clId="{C2148ECE-E73B-4BB0-8DE0-C3E38CA96AE6}" dt="2026-09-29T16:54:52.471" v="272" actId="1076"/>
        <pc:sldMkLst>
          <pc:docMk/>
          <pc:sldMk cId="0" sldId="291"/>
        </pc:sldMkLst>
        <pc:spChg chg="add mod">
          <ac:chgData name="pullelaabhinav1105@outlook.com" userId="d1f1e7a802c3af1d" providerId="LiveId" clId="{C2148ECE-E73B-4BB0-8DE0-C3E38CA96AE6}" dt="2026-09-29T16:51:47.852" v="232" actId="1038"/>
          <ac:spMkLst>
            <pc:docMk/>
            <pc:sldMk cId="0" sldId="291"/>
            <ac:spMk id="3" creationId="{B7FDD475-3093-EEF8-1B5C-910B804D41D0}"/>
          </ac:spMkLst>
        </pc:spChg>
        <pc:spChg chg="del mod">
          <ac:chgData name="pullelaabhinav1105@outlook.com" userId="d1f1e7a802c3af1d" providerId="LiveId" clId="{C2148ECE-E73B-4BB0-8DE0-C3E38CA96AE6}" dt="2026-09-29T16:54:33.562" v="269" actId="478"/>
          <ac:spMkLst>
            <pc:docMk/>
            <pc:sldMk cId="0" sldId="291"/>
            <ac:spMk id="4" creationId="{00000000-0000-0000-0000-000000000000}"/>
          </ac:spMkLst>
        </pc:spChg>
        <pc:spChg chg="add mod">
          <ac:chgData name="pullelaabhinav1105@outlook.com" userId="d1f1e7a802c3af1d" providerId="LiveId" clId="{C2148ECE-E73B-4BB0-8DE0-C3E38CA96AE6}" dt="2026-09-29T16:51:47.852" v="232" actId="1038"/>
          <ac:spMkLst>
            <pc:docMk/>
            <pc:sldMk cId="0" sldId="291"/>
            <ac:spMk id="6" creationId="{411E88B7-393B-F9C8-B079-46D98A4139DE}"/>
          </ac:spMkLst>
        </pc:spChg>
        <pc:spChg chg="add mod">
          <ac:chgData name="pullelaabhinav1105@outlook.com" userId="d1f1e7a802c3af1d" providerId="LiveId" clId="{C2148ECE-E73B-4BB0-8DE0-C3E38CA96AE6}" dt="2026-09-29T16:51:47.852" v="232" actId="1038"/>
          <ac:spMkLst>
            <pc:docMk/>
            <pc:sldMk cId="0" sldId="291"/>
            <ac:spMk id="7" creationId="{B5A3CEF0-A2B7-CB1B-FA59-B729B97C1B0C}"/>
          </ac:spMkLst>
        </pc:spChg>
        <pc:spChg chg="add mod ord">
          <ac:chgData name="pullelaabhinav1105@outlook.com" userId="d1f1e7a802c3af1d" providerId="LiveId" clId="{C2148ECE-E73B-4BB0-8DE0-C3E38CA96AE6}" dt="2026-09-29T16:51:00.718" v="175" actId="1582"/>
          <ac:spMkLst>
            <pc:docMk/>
            <pc:sldMk cId="0" sldId="291"/>
            <ac:spMk id="9" creationId="{21912B5E-F0B5-9B19-FF4F-EE8C9CB56475}"/>
          </ac:spMkLst>
        </pc:spChg>
        <pc:spChg chg="mod">
          <ac:chgData name="pullelaabhinav1105@outlook.com" userId="d1f1e7a802c3af1d" providerId="LiveId" clId="{C2148ECE-E73B-4BB0-8DE0-C3E38CA96AE6}" dt="2026-09-29T16:54:52.471" v="272" actId="1076"/>
          <ac:spMkLst>
            <pc:docMk/>
            <pc:sldMk cId="0" sldId="291"/>
            <ac:spMk id="10" creationId="{00000000-0000-0000-0000-000000000000}"/>
          </ac:spMkLst>
        </pc:spChg>
        <pc:spChg chg="add mod">
          <ac:chgData name="pullelaabhinav1105@outlook.com" userId="d1f1e7a802c3af1d" providerId="LiveId" clId="{C2148ECE-E73B-4BB0-8DE0-C3E38CA96AE6}" dt="2026-09-29T16:51:19.837" v="178" actId="1076"/>
          <ac:spMkLst>
            <pc:docMk/>
            <pc:sldMk cId="0" sldId="291"/>
            <ac:spMk id="12" creationId="{061226B0-DF3A-A765-B26C-04DA8DB4085C}"/>
          </ac:spMkLst>
        </pc:spChg>
        <pc:spChg chg="add mod">
          <ac:chgData name="pullelaabhinav1105@outlook.com" userId="d1f1e7a802c3af1d" providerId="LiveId" clId="{C2148ECE-E73B-4BB0-8DE0-C3E38CA96AE6}" dt="2026-09-29T16:53:44.888" v="265" actId="14100"/>
          <ac:spMkLst>
            <pc:docMk/>
            <pc:sldMk cId="0" sldId="291"/>
            <ac:spMk id="13" creationId="{A0A67419-019A-17CC-7697-E2D7FBD15188}"/>
          </ac:spMkLst>
        </pc:spChg>
        <pc:spChg chg="add mod">
          <ac:chgData name="pullelaabhinav1105@outlook.com" userId="d1f1e7a802c3af1d" providerId="LiveId" clId="{C2148ECE-E73B-4BB0-8DE0-C3E38CA96AE6}" dt="2026-09-29T16:54:00.988" v="267" actId="113"/>
          <ac:spMkLst>
            <pc:docMk/>
            <pc:sldMk cId="0" sldId="291"/>
            <ac:spMk id="14" creationId="{B634B041-4EB0-DACA-485F-CBB11ED7A59A}"/>
          </ac:spMkLst>
        </pc:spChg>
        <pc:spChg chg="add del mod">
          <ac:chgData name="pullelaabhinav1105@outlook.com" userId="d1f1e7a802c3af1d" providerId="LiveId" clId="{C2148ECE-E73B-4BB0-8DE0-C3E38CA96AE6}" dt="2026-09-29T16:54:44.618" v="271" actId="478"/>
          <ac:spMkLst>
            <pc:docMk/>
            <pc:sldMk cId="0" sldId="291"/>
            <ac:spMk id="16" creationId="{E81AC2D6-5C8C-9069-78CE-66CD3D1D39E9}"/>
          </ac:spMkLst>
        </pc:spChg>
        <pc:graphicFrameChg chg="add mod">
          <ac:chgData name="pullelaabhinav1105@outlook.com" userId="d1f1e7a802c3af1d" providerId="LiveId" clId="{C2148ECE-E73B-4BB0-8DE0-C3E38CA96AE6}" dt="2026-09-29T16:28:06.842" v="37"/>
          <ac:graphicFrameMkLst>
            <pc:docMk/>
            <pc:sldMk cId="0" sldId="291"/>
            <ac:graphicFrameMk id="3" creationId="{80815C8E-75D3-A534-E744-C1E4864D01A2}"/>
          </ac:graphicFrameMkLst>
        </pc:graphicFrameChg>
      </pc:sldChg>
      <pc:sldChg chg="modSp mod">
        <pc:chgData name="pullelaabhinav1105@outlook.com" userId="d1f1e7a802c3af1d" providerId="LiveId" clId="{C2148ECE-E73B-4BB0-8DE0-C3E38CA96AE6}" dt="2026-09-29T16:32:25.404" v="108" actId="255"/>
        <pc:sldMkLst>
          <pc:docMk/>
          <pc:sldMk cId="3753387913" sldId="293"/>
        </pc:sldMkLst>
        <pc:spChg chg="mod">
          <ac:chgData name="pullelaabhinav1105@outlook.com" userId="d1f1e7a802c3af1d" providerId="LiveId" clId="{C2148ECE-E73B-4BB0-8DE0-C3E38CA96AE6}" dt="2026-09-29T16:31:28.599" v="73" actId="20577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pullelaabhinav1105@outlook.com" userId="d1f1e7a802c3af1d" providerId="LiveId" clId="{C2148ECE-E73B-4BB0-8DE0-C3E38CA96AE6}" dt="2026-09-29T16:32:25.404" v="108" actId="255"/>
          <ac:spMkLst>
            <pc:docMk/>
            <pc:sldMk cId="3753387913" sldId="293"/>
            <ac:spMk id="12" creationId="{5DBCE864-823D-4A13-9607-5DA1F0ED5FB8}"/>
          </ac:spMkLst>
        </pc:spChg>
      </pc:sldChg>
      <pc:sldChg chg="modSp mod">
        <pc:chgData name="pullelaabhinav1105@outlook.com" userId="d1f1e7a802c3af1d" providerId="LiveId" clId="{C2148ECE-E73B-4BB0-8DE0-C3E38CA96AE6}" dt="2026-09-29T16:32:16.559" v="107" actId="404"/>
        <pc:sldMkLst>
          <pc:docMk/>
          <pc:sldMk cId="2997144140" sldId="294"/>
        </pc:sldMkLst>
        <pc:spChg chg="mod">
          <ac:chgData name="pullelaabhinav1105@outlook.com" userId="d1f1e7a802c3af1d" providerId="LiveId" clId="{C2148ECE-E73B-4BB0-8DE0-C3E38CA96AE6}" dt="2026-09-29T16:31:35.156" v="83" actId="20577"/>
          <ac:spMkLst>
            <pc:docMk/>
            <pc:sldMk cId="2997144140" sldId="294"/>
            <ac:spMk id="7" creationId="{00000000-0000-0000-0000-000000000000}"/>
          </ac:spMkLst>
        </pc:spChg>
        <pc:spChg chg="mod">
          <ac:chgData name="pullelaabhinav1105@outlook.com" userId="d1f1e7a802c3af1d" providerId="LiveId" clId="{C2148ECE-E73B-4BB0-8DE0-C3E38CA96AE6}" dt="2026-09-29T16:32:16.559" v="107" actId="404"/>
          <ac:spMkLst>
            <pc:docMk/>
            <pc:sldMk cId="2997144140" sldId="294"/>
            <ac:spMk id="12" creationId="{5DBCE864-823D-4A13-9607-5DA1F0ED5FB8}"/>
          </ac:spMkLst>
        </pc:spChg>
      </pc:sldChg>
      <pc:sldChg chg="modSp mod">
        <pc:chgData name="pullelaabhinav1105@outlook.com" userId="d1f1e7a802c3af1d" providerId="LiveId" clId="{C2148ECE-E73B-4BB0-8DE0-C3E38CA96AE6}" dt="2026-09-29T16:32:01.079" v="100" actId="404"/>
        <pc:sldMkLst>
          <pc:docMk/>
          <pc:sldMk cId="3916788613" sldId="296"/>
        </pc:sldMkLst>
        <pc:spChg chg="mod">
          <ac:chgData name="pullelaabhinav1105@outlook.com" userId="d1f1e7a802c3af1d" providerId="LiveId" clId="{C2148ECE-E73B-4BB0-8DE0-C3E38CA96AE6}" dt="2026-09-29T16:31:44.983" v="93" actId="6549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pullelaabhinav1105@outlook.com" userId="d1f1e7a802c3af1d" providerId="LiveId" clId="{C2148ECE-E73B-4BB0-8DE0-C3E38CA96AE6}" dt="2026-09-29T16:32:01.079" v="100" actId="404"/>
          <ac:spMkLst>
            <pc:docMk/>
            <pc:sldMk cId="3916788613" sldId="296"/>
            <ac:spMk id="9" creationId="{5DBCE864-823D-4A13-9607-5DA1F0ED5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nesis-Blockers/Genesis-Blocker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912B5E-F0B5-9B19-FF4F-EE8C9CB56475}"/>
              </a:ext>
            </a:extLst>
          </p:cNvPr>
          <p:cNvSpPr/>
          <p:nvPr/>
        </p:nvSpPr>
        <p:spPr>
          <a:xfrm>
            <a:off x="777240" y="5687568"/>
            <a:ext cx="9692640" cy="845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444" y="1400500"/>
            <a:ext cx="5924550" cy="3528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SIH26182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Automated Attribution of Unknown Cryptocurrency Wallets to Nearest VASPs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ID- 177141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Genesis-Blockers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B7FDD475-3093-EEF8-1B5C-910B804D41D0}"/>
              </a:ext>
            </a:extLst>
          </p:cNvPr>
          <p:cNvSpPr/>
          <p:nvPr/>
        </p:nvSpPr>
        <p:spPr>
          <a:xfrm>
            <a:off x="4052316" y="5892301"/>
            <a:ext cx="1874519" cy="4572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Blockchain Intelligence</a:t>
            </a:r>
          </a:p>
        </p:txBody>
      </p:sp>
      <p:sp>
        <p:nvSpPr>
          <p:cNvPr id="6" name="Rounded Rectangle 38">
            <a:extLst>
              <a:ext uri="{FF2B5EF4-FFF2-40B4-BE49-F238E27FC236}">
                <a16:creationId xmlns:a16="http://schemas.microsoft.com/office/drawing/2014/main" id="{411E88B7-393B-F9C8-B079-46D98A4139DE}"/>
              </a:ext>
            </a:extLst>
          </p:cNvPr>
          <p:cNvSpPr/>
          <p:nvPr/>
        </p:nvSpPr>
        <p:spPr>
          <a:xfrm>
            <a:off x="6063996" y="5892301"/>
            <a:ext cx="1874519" cy="4572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50" b="1" dirty="0">
                <a:solidFill>
                  <a:srgbClr val="FFFFFF"/>
                </a:solidFill>
                <a:latin typeface="Arial"/>
              </a:rPr>
              <a:t>Transaction Graph Analysis</a:t>
            </a:r>
          </a:p>
        </p:txBody>
      </p:sp>
      <p:sp>
        <p:nvSpPr>
          <p:cNvPr id="7" name="Rounded Rectangle 39">
            <a:extLst>
              <a:ext uri="{FF2B5EF4-FFF2-40B4-BE49-F238E27FC236}">
                <a16:creationId xmlns:a16="http://schemas.microsoft.com/office/drawing/2014/main" id="{B5A3CEF0-A2B7-CB1B-FA59-B729B97C1B0C}"/>
              </a:ext>
            </a:extLst>
          </p:cNvPr>
          <p:cNvSpPr/>
          <p:nvPr/>
        </p:nvSpPr>
        <p:spPr>
          <a:xfrm>
            <a:off x="8075676" y="5892301"/>
            <a:ext cx="1874519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50" b="1" dirty="0">
                <a:solidFill>
                  <a:srgbClr val="FFFFFF"/>
                </a:solidFill>
                <a:latin typeface="Arial"/>
              </a:rPr>
              <a:t>Evidence-Based Attribution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1226B0-DF3A-A765-B26C-04DA8DB4085C}"/>
              </a:ext>
            </a:extLst>
          </p:cNvPr>
          <p:cNvSpPr/>
          <p:nvPr/>
        </p:nvSpPr>
        <p:spPr>
          <a:xfrm>
            <a:off x="871728" y="5759871"/>
            <a:ext cx="9692640" cy="84567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0A67419-019A-17CC-7697-E2D7FBD15188}"/>
              </a:ext>
            </a:extLst>
          </p:cNvPr>
          <p:cNvSpPr/>
          <p:nvPr/>
        </p:nvSpPr>
        <p:spPr>
          <a:xfrm>
            <a:off x="1084330" y="5796236"/>
            <a:ext cx="2793492" cy="70851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4B041-4EB0-DACA-485F-CBB11ED7A59A}"/>
              </a:ext>
            </a:extLst>
          </p:cNvPr>
          <p:cNvSpPr txBox="1"/>
          <p:nvPr/>
        </p:nvSpPr>
        <p:spPr>
          <a:xfrm>
            <a:off x="1084330" y="5965828"/>
            <a:ext cx="279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THEMES &amp; TECHNOLOGIES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PROGRESSIVE FILTERING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6035040" cy="263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Problem: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Pseudonymous addresses and multi-hop transactions hide real VASP ownership.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Core Idea: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Progressive Filtering - narrow the search using transaction, graph and entity evidence.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Outcome: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A huge search space becomes a few evidence-ranked VASP candidates.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Why it works: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Label lookup misses links several hops away; a graph exposes them.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Genesis-Blockers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858000" y="1280160"/>
            <a:ext cx="4754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Entire blockchain (millions of addresses)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7360920" y="1993391"/>
            <a:ext cx="3749039" cy="64008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Transaction relevance filter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863840" y="2706624"/>
            <a:ext cx="2743200" cy="6400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Graph proximity + entity intelligence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366760" y="3419856"/>
            <a:ext cx="1737360" cy="6400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Ranked VASP candidates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457200" y="4343400"/>
            <a:ext cx="5486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>
                <a:solidFill>
                  <a:srgbClr val="1F3864"/>
                </a:solidFill>
                <a:latin typeface="Arial"/>
              </a:rPr>
              <a:t>INNOVATION &amp; USP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4709160"/>
            <a:ext cx="3593592" cy="12801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Search-space reduction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Filters first, scores later - not brute-force label matching.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79392" y="4709160"/>
            <a:ext cx="3593592" cy="12801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Multi-hop graph evidence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Finds VASP links several transactions away.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101583" y="4709160"/>
            <a:ext cx="3593592" cy="12801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1F3864"/>
                </a:solidFill>
                <a:latin typeface="Arial"/>
              </a:rPr>
              <a:t>Explainable by design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Every result shows Who, Why and 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3611880"/>
            <a:ext cx="1124712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API Orchestration: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Coordinates the pipeline and service-to-service communication.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Graph Service: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Turns transfers into a traversable graph - wallets are nodes, transactions are edges (value, time, tx ID).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Scoring Service: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Ranks candidate VASPs by accumulated graph, transaction and entity evidence.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Data &amp; VASP Intelligence: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Normalized blockchain data plus known-entity enrichment.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Genesis-Blockers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417320"/>
            <a:ext cx="1554480" cy="10972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User &amp; Frontend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Wallet + parameters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2011680" y="1965960"/>
            <a:ext cx="389534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2401214" y="1417320"/>
            <a:ext cx="1554480" cy="10972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API Orchestration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Coordinates pipeline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955694" y="1965960"/>
            <a:ext cx="389534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4345228" y="1417320"/>
            <a:ext cx="1554480" cy="1097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 Layer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Blockchain Service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899708" y="1965960"/>
            <a:ext cx="389535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6289243" y="1417320"/>
            <a:ext cx="1554480" cy="10972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Graph Service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Transaction graph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7843723" y="1965960"/>
            <a:ext cx="389534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8233257" y="1417320"/>
            <a:ext cx="1554480" cy="10972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Scoring Service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Evidence ranking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9787737" y="1965960"/>
            <a:ext cx="389535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10177272" y="1417320"/>
            <a:ext cx="1554480" cy="1097280"/>
          </a:xfrm>
          <a:prstGeom prst="round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Attribution Result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VASPs + evidence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229600" y="2788920"/>
            <a:ext cx="1554480" cy="5486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F3864"/>
                </a:solidFill>
                <a:latin typeface="Arial"/>
              </a:rPr>
              <a:t>VASP Intelligence</a:t>
            </a:r>
          </a:p>
        </p:txBody>
      </p:sp>
      <p:cxnSp>
        <p:nvCxnSpPr>
          <p:cNvPr id="17423" name="Connector 17422"/>
          <p:cNvCxnSpPr/>
          <p:nvPr/>
        </p:nvCxnSpPr>
        <p:spPr>
          <a:xfrm flipV="1">
            <a:off x="9006840" y="2514600"/>
            <a:ext cx="0" cy="27432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57200" y="2788920"/>
            <a:ext cx="7406640" cy="5486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E9E5B"/>
                </a:solidFill>
                <a:latin typeface="Arial"/>
              </a:rPr>
              <a:t>USP: modular services - each stage scales and improves independently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539496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Neighborhood Discovery: </a:t>
            </a:r>
            <a:r>
              <a:rPr lang="en-US" sz="15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Hop-based traversal from the unknown wallet - 1-hop counterparties, 2+ hop peers.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Why it works: </a:t>
            </a:r>
            <a:r>
              <a:rPr lang="en-US" sz="15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Attribution signals often sit several transactions away.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Risk: </a:t>
            </a:r>
            <a:r>
              <a:rPr lang="en-US" sz="15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Large, noisy graphs. Fix: relevance filtering before scoring.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Genesis-Blockers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6309360" y="2103120"/>
            <a:ext cx="1143000" cy="594360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Unknown wallet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7772400" y="1463040"/>
            <a:ext cx="86868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Wallet 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1-hop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7772400" y="2834640"/>
            <a:ext cx="86868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Wallet C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1-hop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9098280" y="1463040"/>
            <a:ext cx="86868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Wallet B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2-hop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0332720" y="2103120"/>
            <a:ext cx="1280160" cy="5943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Known VASP</a:t>
            </a:r>
          </a:p>
        </p:txBody>
      </p:sp>
      <p:cxnSp>
        <p:nvCxnSpPr>
          <p:cNvPr id="17416" name="Connector 17415"/>
          <p:cNvCxnSpPr/>
          <p:nvPr/>
        </p:nvCxnSpPr>
        <p:spPr>
          <a:xfrm flipV="1">
            <a:off x="7452360" y="1714500"/>
            <a:ext cx="32004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7452360" y="2400300"/>
            <a:ext cx="32004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8641080" y="1714500"/>
            <a:ext cx="4572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9966959" y="1714500"/>
            <a:ext cx="365761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 flipV="1">
            <a:off x="8641080" y="2400300"/>
            <a:ext cx="169164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ectangle 17420"/>
          <p:cNvSpPr/>
          <p:nvPr/>
        </p:nvSpPr>
        <p:spPr>
          <a:xfrm>
            <a:off x="457200" y="3749039"/>
            <a:ext cx="7315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>
                <a:solidFill>
                  <a:srgbClr val="1F3864"/>
                </a:solidFill>
                <a:latin typeface="Arial"/>
              </a:rPr>
              <a:t>EVIDENCE AGGREGATION MODEL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" y="4114800"/>
            <a:ext cx="3108960" cy="5029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F3864"/>
                </a:solidFill>
                <a:latin typeface="Arial"/>
              </a:rPr>
              <a:t>Graph proximity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566160" y="4366260"/>
            <a:ext cx="502920" cy="48006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57200" y="4754880"/>
            <a:ext cx="3108960" cy="5029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F3864"/>
                </a:solidFill>
                <a:latin typeface="Arial"/>
              </a:rPr>
              <a:t>Transaction evidence</a:t>
            </a:r>
          </a:p>
        </p:txBody>
      </p:sp>
      <p:cxnSp>
        <p:nvCxnSpPr>
          <p:cNvPr id="17425" name="Connector 17424"/>
          <p:cNvCxnSpPr/>
          <p:nvPr/>
        </p:nvCxnSpPr>
        <p:spPr>
          <a:xfrm flipV="1">
            <a:off x="3566160" y="4846320"/>
            <a:ext cx="502920" cy="16002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457200" y="5394960"/>
            <a:ext cx="3108960" cy="5029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F3864"/>
                </a:solidFill>
                <a:latin typeface="Arial"/>
              </a:rPr>
              <a:t>Entity / VASP intelligence</a:t>
            </a:r>
          </a:p>
        </p:txBody>
      </p:sp>
      <p:cxnSp>
        <p:nvCxnSpPr>
          <p:cNvPr id="17427" name="Connector 17426"/>
          <p:cNvCxnSpPr/>
          <p:nvPr/>
        </p:nvCxnSpPr>
        <p:spPr>
          <a:xfrm flipV="1">
            <a:off x="3566160" y="4846320"/>
            <a:ext cx="502920" cy="80010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4114800" y="4389120"/>
            <a:ext cx="237744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Evidence score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combined attribution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6492240" y="4846320"/>
            <a:ext cx="457200" cy="0"/>
          </a:xfrm>
          <a:prstGeom prst="line">
            <a:avLst/>
          </a:prstGeom>
          <a:ln w="2540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7040880" y="4114800"/>
            <a:ext cx="457200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Candidate A - High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040880" y="4754880"/>
            <a:ext cx="3474720" cy="502920"/>
          </a:xfrm>
          <a:prstGeom prst="round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Candidate B - Moderate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040880" y="5394960"/>
            <a:ext cx="2377440" cy="50292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Candidate C - Lower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17920" y="2651760"/>
            <a:ext cx="5486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Automated: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cuts manual effort tracing multi-hop transaction networks.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Graph-driven: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uses relationships, not just direct address labels.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Explainable: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every attribution is backed by paths and evidence.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Auditable: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results can be reviewed and verified end to end.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Genesis-Blockers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234440"/>
            <a:ext cx="3593592" cy="11887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WHO?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Candidate VASP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234440"/>
            <a:ext cx="3593592" cy="11887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WHY?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Supporting transaction &amp; graph evidence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01583" y="1234440"/>
            <a:ext cx="3593592" cy="11887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HOW?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Multi-hop path linking wallet to VASP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57200" y="2651760"/>
            <a:ext cx="5394960" cy="2743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594360" y="2743200"/>
            <a:ext cx="51206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>
                <a:solidFill>
                  <a:srgbClr val="1F3864"/>
                </a:solidFill>
                <a:latin typeface="Arial"/>
              </a:rPr>
              <a:t>System output: ranked attribution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200400"/>
            <a:ext cx="493776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Candidate VASP A - Strong evidence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0080" y="3840480"/>
            <a:ext cx="3657600" cy="502920"/>
          </a:xfrm>
          <a:prstGeom prst="round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Candidate VASP B - Moderate evidence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457200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Arial"/>
              </a:rPr>
              <a:t>Backed by: tx hashes, graph paths, known-entity info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5577840"/>
            <a:ext cx="11274552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Transparent, auditable attribution - answering WHO, WHY and HOW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34440"/>
            <a:ext cx="112471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GitHub: </a:t>
            </a:r>
            <a:r>
              <a:rPr lang="en-US" sz="1600" b="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https://github.com/Genesis-Blockers/Genesis-Blockers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Research area: </a:t>
            </a:r>
            <a:r>
              <a:rPr lang="en-US" sz="1600" b="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Blockchain multi-hop transaction graph analysis.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Approach: </a:t>
            </a:r>
            <a:r>
              <a:rPr lang="en-US" sz="1600" b="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Evidence-based VASP attribution using graph proximity and transaction evidence.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Genesis-Blockers</a:t>
            </a:r>
            <a:endParaRPr lang="en-IN" sz="3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3017520"/>
            <a:ext cx="5212080" cy="41148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Traditional address lookup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92240" y="3017520"/>
            <a:ext cx="5212080" cy="4114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Genesis-Blockers (our USP)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3566160"/>
            <a:ext cx="5212080" cy="6400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Single address label match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5852160" y="3657600"/>
            <a:ext cx="457200" cy="4572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492240" y="3566160"/>
            <a:ext cx="5212080" cy="64008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1E6B3C"/>
                </a:solidFill>
                <a:latin typeface="Arial"/>
              </a:rPr>
              <a:t>Multi-hop graph evidence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4343400"/>
            <a:ext cx="5212080" cy="6400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Black-box, unexplained match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852160" y="4434840"/>
            <a:ext cx="457200" cy="4572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6492240" y="4343400"/>
            <a:ext cx="5212080" cy="64008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1E6B3C"/>
                </a:solidFill>
                <a:latin typeface="Arial"/>
              </a:rPr>
              <a:t>Who + Why + How explanation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5120640"/>
            <a:ext cx="5212080" cy="6400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Manual tracing across hops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852160" y="5212079"/>
            <a:ext cx="457200" cy="4572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6492240" y="5120640"/>
            <a:ext cx="5212080" cy="64008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1E6B3C"/>
                </a:solidFill>
                <a:latin typeface="Arial"/>
              </a:rPr>
              <a:t>Automated progressive filtering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7503</TotalTime>
  <Words>567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PROGRESSIVE FILTERING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pullelaabhinav1105@outlook.com</cp:lastModifiedBy>
  <cp:revision>149</cp:revision>
  <dcterms:created xsi:type="dcterms:W3CDTF">2013-12-12T18:46:50Z</dcterms:created>
  <dcterms:modified xsi:type="dcterms:W3CDTF">2026-09-29T16:54:59Z</dcterms:modified>
  <cp:category/>
</cp:coreProperties>
</file>